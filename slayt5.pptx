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749040" y="502920"/>
            <a:ext cx="1645920" cy="1645920"/>
          </a:xfrm>
          <a:prstGeom prst="ellipse">
            <a:avLst/>
          </a:prstGeom>
          <a:solidFill>
            <a:srgbClr val="B8860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749040" y="502920"/>
            <a:ext cx="1645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🎨</a:t>
            </a:r>
            <a:endParaRPr lang="en-US" sz="5200" dirty="0"/>
          </a:p>
        </p:txBody>
      </p:sp>
      <p:sp>
        <p:nvSpPr>
          <p:cNvPr id="7" name="Shape 5"/>
          <p:cNvSpPr/>
          <p:nvPr/>
        </p:nvSpPr>
        <p:spPr>
          <a:xfrm>
            <a:off x="2286000" y="2395728"/>
            <a:ext cx="4572000" cy="4114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5420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SINIF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48640" y="2944368"/>
            <a:ext cx="804672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Ünite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Kültürümüzdeki Dinî Motifler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57200" y="4343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Kültürü ve Ahlak Bilgisi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Ayşe Yazıcı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🎯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Bu Ünitede Neler Öğreneceğiz?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960120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394460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3944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Geleneğimizde Dinin İzleri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258568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258568"/>
            <a:ext cx="82296" cy="960120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482596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482596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295144"/>
            <a:ext cx="7178040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Edebiyatımızda Dinin İzleri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346704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346704"/>
            <a:ext cx="82296" cy="960120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570732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57073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383280"/>
            <a:ext cx="7178040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Musikimizde Dinin İzleri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Kültürümüzdeki Dinî Motifler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12192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Geleneğimizde Dinin İzleri (1/3)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80695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317879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317879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Kültür, bir toplumun maddi ve manevi değerlerinin bütünüdür.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105406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105406"/>
            <a:ext cx="82296" cy="80695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252853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252853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141982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Örf ve âdetler, toplumun uzun sürede oluşturup benimsediği yazılı olmayan kurallardır.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040380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040380"/>
            <a:ext cx="82296" cy="80695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187827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187827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076956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Yaygın geleneklerimiz arasında mevlit okutma, taziye ziyareti, kız isteme, asker uğurlama ve düğün vardır.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57200" y="3975354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975354"/>
            <a:ext cx="82296" cy="80695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4122801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4122801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6" name="Text 24"/>
          <p:cNvSpPr/>
          <p:nvPr/>
        </p:nvSpPr>
        <p:spPr>
          <a:xfrm>
            <a:off x="1371600" y="4011930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Kandil geceleri (Mevlit, Regaip, Miraç, Berat), kültürümüzde dört önemli gecedir; II.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Kültürümüzdeki Dinî Motifler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18288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Geleneğimizde Dinin İzleri (2/3)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80695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317879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317879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Selim zamanında minarelerde kandil yakılarak kutlandığı için bu adı almıştır.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105406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105406"/>
            <a:ext cx="82296" cy="80695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252853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252853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141982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Yardımlaşma gelenekleri: sadaka taşı (Osmanlı'da yaygınlaşan yardım bırakma yeri), zimem defteri (Arapça "borçlar"; veresiye borçların yazıldığı defter), vakıf (bir malı topluma özgüleme) ve vakfiye (vakfın işleyiş…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040380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040380"/>
            <a:ext cx="82296" cy="80695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187827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187827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076956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Ramazanda iki minare arasına mahya asılır; çocuklar için "tekne orucu" yapılır.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57200" y="3975354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975354"/>
            <a:ext cx="82296" cy="80695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4122801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4122801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6" name="Text 24"/>
          <p:cNvSpPr/>
          <p:nvPr/>
        </p:nvSpPr>
        <p:spPr>
          <a:xfrm>
            <a:off x="1371600" y="4011930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Muharrem ayının onuncu gününe "aşure günü" denir; bu günde aşure tatlısı yapılıp dağıtılır. Ehlibeyt (Hz.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Kültürümüzdeki Dinî Motifler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2438400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4552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455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Geleneğimizde Dinin İzleri (3/3)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4552B">
              <a:alpha val="10000"/>
            </a:srgbClr>
          </a:solidFill>
          <a:ln w="9525">
            <a:solidFill>
              <a:srgbClr val="B455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B4552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B4552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Muhammed'in aile fertleri, "ev halkı") sevgisi; Muhammed, Fatıma, Ali, Hasan, Hüseyin gibi isimlerin yaygın kullanımıyla kültürümüzde yaşar.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Kültürümüzdeki Dinî Motifler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455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5116068"/>
            <a:ext cx="3048000" cy="32004"/>
          </a:xfrm>
          <a:prstGeom prst="rect">
            <a:avLst/>
          </a:prstGeom>
          <a:solidFill>
            <a:srgbClr val="B4552B"/>
          </a:solidFill>
          <a:ln/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6A3E7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6A3E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Edebiyatımızda Dinin İzleri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806958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317879"/>
            <a:ext cx="512064" cy="512064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317879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Edebiyat, olay, duygu ve düşüncelerin sözlü ya da yazılı ifadesidir.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105406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105406"/>
            <a:ext cx="82296" cy="806958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252853"/>
            <a:ext cx="512064" cy="512064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252853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141982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Din, yeni edebî türlerin ortaya çıkmasını sağlamıştır: tevhit (Allah'ın varlığı ve birliğini anlatan eser), münacat (Allah'a dua amacıyla yazılan şiir), naat (Hz.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040380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040380"/>
            <a:ext cx="82296" cy="806958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187827"/>
            <a:ext cx="512064" cy="512064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187827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076956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Peygamber'i öven şiir) ve mevlit (Hz. Peygamber'in doğumunu anlatan eser — en meşhuru Süleyman Çelebi'nin "Vesiletü'n-Necat"ıdır).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57200" y="3975354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6A3E7A">
              <a:alpha val="10000"/>
            </a:srgbClr>
          </a:solidFill>
          <a:ln w="9525">
            <a:solidFill>
              <a:srgbClr val="6A3E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975354"/>
            <a:ext cx="82296" cy="806958"/>
          </a:xfrm>
          <a:prstGeom prst="roundRect">
            <a:avLst/>
          </a:prstGeom>
          <a:solidFill>
            <a:srgbClr val="6A3E7A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4122801"/>
            <a:ext cx="512064" cy="512064"/>
          </a:xfrm>
          <a:prstGeom prst="ellipse">
            <a:avLst/>
          </a:prstGeom>
          <a:solidFill>
            <a:srgbClr val="6A3E7A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4122801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6" name="Text 24"/>
          <p:cNvSpPr/>
          <p:nvPr/>
        </p:nvSpPr>
        <p:spPr>
          <a:xfrm>
            <a:off x="1371600" y="4011930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Naatın ilk örneklerini Yusuf Has Hacip, Hoca Ahmet Yesevi, Hacı Bektaş Veli, Yunus Emre yazmıştır.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Kültürümüzdeki Dinî Motifler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6A3E7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6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3657600" cy="32004"/>
          </a:xfrm>
          <a:prstGeom prst="rect">
            <a:avLst/>
          </a:prstGeom>
          <a:solidFill>
            <a:srgbClr val="6A3E7A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Edebiyatımızda Dinin İzleri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Önemli eserler: Hacı Bektaş Veli'nin "Makalat"ı, Hoca Ahmet Yesevi'nin "Divan-ı Hikmet"i, Yunus Emre'nin "Divan"ı, Mevlana'nın "Mesnevi"si.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B8860B">
              <a:alpha val="10000"/>
            </a:srgbClr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B8860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Sözlü edebiyatta da (atasözü, deyim, ninni, ağıt) dinin izleri görülür.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Kültürümüzdeki Dinî Motifler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7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5116068"/>
            <a:ext cx="42672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2E7D5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Musikimizde Dinin İzleri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80695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317879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317879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Musiki, kulağa hoş gelen sesler dizisidir.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105406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105406"/>
            <a:ext cx="82296" cy="80695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252853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252853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141982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Ezan, namaz vakitlerinin geldiğini duyuran çağrıdır; ilk kez Bilal Habeşi tarafından okunmuştur.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040380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040380"/>
            <a:ext cx="82296" cy="80695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187827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187827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076956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Kamet, farz namazlardan önce ezana "Kad kâmeti's salâh" ekleyerek okunmasıdır.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57200" y="3975354"/>
            <a:ext cx="8229600" cy="806958"/>
          </a:xfrm>
          <a:prstGeom prst="roundRect">
            <a:avLst>
              <a:gd name="adj" fmla="val 9065"/>
            </a:avLst>
          </a:prstGeom>
          <a:solidFill>
            <a:srgbClr val="2E7D5B">
              <a:alpha val="10000"/>
            </a:srgbClr>
          </a:solidFill>
          <a:ln w="9525">
            <a:solidFill>
              <a:srgbClr val="2E7D5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975354"/>
            <a:ext cx="82296" cy="806958"/>
          </a:xfrm>
          <a:prstGeom prst="roundRect">
            <a:avLst/>
          </a:prstGeom>
          <a:solidFill>
            <a:srgbClr val="2E7D5B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" y="4122801"/>
            <a:ext cx="512064" cy="512064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" y="4122801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6" name="Text 24"/>
          <p:cNvSpPr/>
          <p:nvPr/>
        </p:nvSpPr>
        <p:spPr>
          <a:xfrm>
            <a:off x="1371600" y="4011930"/>
            <a:ext cx="7178040" cy="7338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Sela, önemli gün/geceleri veya cenaze namazını haber vermek için okunan duadır.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Kültürümüzdeki Dinî Motifler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2E7D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8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4876800" cy="32004"/>
          </a:xfrm>
          <a:prstGeom prst="rect">
            <a:avLst/>
          </a:prstGeom>
          <a:solidFill>
            <a:srgbClr val="2E7D5B"/>
          </a:solidFill>
          <a:ln/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Musikimizde Dinin İzleri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426464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42646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Salavat, Hz. Peygamber'e selam ve dua etmek; ilahi, Allah'ı övme ve dua amacıyla bestelenen şiirlerdir.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322576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22576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578608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5786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359152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Tekbir, Buhurizade Mustafa Itri Efendi tarafından bestelenmiştir. Güzel sesiyle mevlit okuyan kişiye mevlithan denir.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1024128"/>
          </a:xfrm>
          <a:prstGeom prst="roundRect">
            <a:avLst>
              <a:gd name="adj" fmla="val 7143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474720"/>
            <a:ext cx="82296" cy="1024128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730752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73075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511296"/>
            <a:ext cx="7178040" cy="9509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İslam, Türk sanat ve halk müziğini de etkilemiştir (Allah, Hak, Yaradan, cennet, kader gibi ifadeler).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Kültürümüzdeki Dinî Motifler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5486400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🔑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Önemli Kavramlar (1/2)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Kültür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45152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4880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Örf ve âdet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66928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mevlit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45152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taziye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66928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Kandil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645152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54880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sadaka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3602736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66928" y="3602736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zimem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645152" y="3602736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754880" y="3602736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vakıf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57200" y="4407408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66928" y="4407408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vakfiye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645152" y="4407408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54880" y="4407408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mahya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Kültürümüzdeki Dinî Motifler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10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5116068"/>
            <a:ext cx="60960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B886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🔑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Önemli Kavramlar (2/2)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Muharrem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45152" y="1188720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156670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54880" y="1188720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aşure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4552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66928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Ehlibeyt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45152" y="1993392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6A3E7A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54880" y="1993392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Edebiyat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B8860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66928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tevhit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645152" y="2798064"/>
            <a:ext cx="4041648" cy="658368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/>
          <a:effectLst>
            <a:outerShdw sx="100000" sy="100000" kx="0" ky="0" algn="bl" rotWithShape="0" blurRad="50800" dist="25400" dir="54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754880" y="2798064"/>
            <a:ext cx="382219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münacat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Kültürümüzdeki Dinî Motifler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2" name="Shape 20"/>
          <p:cNvSpPr/>
          <p:nvPr/>
        </p:nvSpPr>
        <p:spPr>
          <a:xfrm>
            <a:off x="0" y="5116068"/>
            <a:ext cx="67056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20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AYETLERLE DÜŞÜNELİM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2880360"/>
          </a:xfrm>
          <a:prstGeom prst="roundRect">
            <a:avLst>
              <a:gd name="adj" fmla="val 3175"/>
            </a:avLst>
          </a:prstGeom>
          <a:solidFill>
            <a:srgbClr val="FFFFFF">
              <a:alpha val="6000"/>
            </a:srgbClr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96012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886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❝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1188720" y="1417320"/>
            <a:ext cx="6766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Sadakaları açık olarak verirseniz bu ne güzel!..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3429000" y="3310128"/>
            <a:ext cx="2286000" cy="27432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2900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Bakara suresi, 271. ayet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Kültürümüzdeki Dinî Motifler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12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5116068"/>
            <a:ext cx="73152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B8860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B8860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20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AYETLERLE DÜŞÜNELİM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7680960" cy="2880360"/>
          </a:xfrm>
          <a:prstGeom prst="roundRect">
            <a:avLst>
              <a:gd name="adj" fmla="val 3175"/>
            </a:avLst>
          </a:prstGeom>
          <a:solidFill>
            <a:srgbClr val="FFFFFF">
              <a:alpha val="6000"/>
            </a:srgbClr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960120"/>
            <a:ext cx="1097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B886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❝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1188720" y="1417320"/>
            <a:ext cx="67665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Allah, sizden kiri gidermek ve sizi tertemiz yapmak istiyor, ey Ehl-i Beyt!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3429000" y="3310128"/>
            <a:ext cx="2286000" cy="27432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42900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Ahzab suresi, 33. ayet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Kültürümüzdeki Dinî Motifler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B886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13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5116068"/>
            <a:ext cx="7924800" cy="32004"/>
          </a:xfrm>
          <a:prstGeom prst="rect">
            <a:avLst/>
          </a:prstGeom>
          <a:solidFill>
            <a:srgbClr val="B8860B"/>
          </a:solidFill>
          <a:ln/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3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1B3A4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9144000" cy="45720"/>
          </a:xfrm>
          <a:prstGeom prst="rect">
            <a:avLst/>
          </a:prstGeom>
          <a:solidFill>
            <a:srgbClr val="15667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28016"/>
            <a:ext cx="658368" cy="658368"/>
          </a:xfrm>
          <a:prstGeom prst="ellipse">
            <a:avLst/>
          </a:prstGeom>
          <a:solidFill>
            <a:srgbClr val="15667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128016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📝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143000" y="0"/>
            <a:ext cx="7589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Ünite Özeti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457200" y="1170432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70432"/>
            <a:ext cx="82296" cy="960120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1394460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3944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44" dirty="0"/>
          </a:p>
        </p:txBody>
      </p:sp>
      <p:sp>
        <p:nvSpPr>
          <p:cNvPr id="11" name="Text 9"/>
          <p:cNvSpPr/>
          <p:nvPr/>
        </p:nvSpPr>
        <p:spPr>
          <a:xfrm>
            <a:off x="1371600" y="1207008"/>
            <a:ext cx="7178040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Geleneğimizde Dinin İzleri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2258568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258568"/>
            <a:ext cx="82296" cy="960120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4" name="Shape 12"/>
          <p:cNvSpPr/>
          <p:nvPr/>
        </p:nvSpPr>
        <p:spPr>
          <a:xfrm>
            <a:off x="658368" y="2482596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2482596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44" dirty="0"/>
          </a:p>
        </p:txBody>
      </p:sp>
      <p:sp>
        <p:nvSpPr>
          <p:cNvPr id="16" name="Text 14"/>
          <p:cNvSpPr/>
          <p:nvPr/>
        </p:nvSpPr>
        <p:spPr>
          <a:xfrm>
            <a:off x="1371600" y="2295144"/>
            <a:ext cx="7178040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Edebiyatımızda Dinin İzleri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457200" y="3346704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156670">
              <a:alpha val="10000"/>
            </a:srgbClr>
          </a:solidFill>
          <a:ln w="9525">
            <a:solidFill>
              <a:srgbClr val="1566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346704"/>
            <a:ext cx="82296" cy="960120"/>
          </a:xfrm>
          <a:prstGeom prst="roundRect">
            <a:avLst/>
          </a:prstGeom>
          <a:solidFill>
            <a:srgbClr val="156670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" y="3570732"/>
            <a:ext cx="512064" cy="512064"/>
          </a:xfrm>
          <a:prstGeom prst="ellipse">
            <a:avLst/>
          </a:prstGeom>
          <a:solidFill>
            <a:srgbClr val="156670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" y="357073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44" dirty="0"/>
          </a:p>
        </p:txBody>
      </p:sp>
      <p:sp>
        <p:nvSpPr>
          <p:cNvPr id="21" name="Text 19"/>
          <p:cNvSpPr/>
          <p:nvPr/>
        </p:nvSpPr>
        <p:spPr>
          <a:xfrm>
            <a:off x="1371600" y="3383280"/>
            <a:ext cx="7178040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Musikimizde Dinin İzleri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Sınıf DKAB — Kültürümüzdeki Dinî Motifler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828032"/>
            <a:ext cx="502920" cy="292608"/>
          </a:xfrm>
          <a:prstGeom prst="roundRect">
            <a:avLst>
              <a:gd name="adj" fmla="val 18750"/>
            </a:avLst>
          </a:prstGeom>
          <a:solidFill>
            <a:srgbClr val="15667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14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5116068"/>
            <a:ext cx="9144000" cy="32004"/>
          </a:xfrm>
          <a:prstGeom prst="rect">
            <a:avLst/>
          </a:prstGeom>
          <a:solidFill>
            <a:srgbClr val="E5E0D0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5116068"/>
            <a:ext cx="8534400" cy="32004"/>
          </a:xfrm>
          <a:prstGeom prst="rect">
            <a:avLst/>
          </a:prstGeom>
          <a:solidFill>
            <a:srgbClr val="156670"/>
          </a:solidFill>
          <a:ln/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3A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-1188720"/>
            <a:ext cx="2926080" cy="2926080"/>
          </a:xfrm>
          <a:prstGeom prst="ellipse">
            <a:avLst/>
          </a:prstGeom>
          <a:solidFill>
            <a:srgbClr val="2E7D5B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91840"/>
            <a:ext cx="2743200" cy="2743200"/>
          </a:xfrm>
          <a:prstGeom prst="ellipse">
            <a:avLst/>
          </a:prstGeom>
          <a:solidFill>
            <a:srgbClr val="2E7D5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731520"/>
            <a:ext cx="1463040" cy="1463040"/>
          </a:xfrm>
          <a:prstGeom prst="ellipse">
            <a:avLst/>
          </a:prstGeom>
          <a:solidFill>
            <a:srgbClr val="B8860B">
              <a:alpha val="2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886200" y="502920"/>
            <a:ext cx="1371600" cy="1371600"/>
          </a:xfrm>
          <a:prstGeom prst="ellipse">
            <a:avLst/>
          </a:prstGeom>
          <a:solidFill>
            <a:srgbClr val="B8860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86200" y="50292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🌟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2286000" y="2148840"/>
            <a:ext cx="4572000" cy="4114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2860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Dinlediğiniz İçin Teşekkürler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457200" y="29718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Başarılar dilerim.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3429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Ayşe Yazıcı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 Kültürü ve Ahlak Bilgisi Öğretmeni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6. Sınıf 5. Ünite: Kültürümüzdeki Dinî Motifler</dc:title>
  <dc:subject>PptxGenJS Presentation</dc:subject>
  <dc:creator>Ayşe Yazıcı</dc:creator>
  <cp:lastModifiedBy>Ayşe Yazıcı</cp:lastModifiedBy>
  <cp:revision>1</cp:revision>
  <dcterms:created xsi:type="dcterms:W3CDTF">2026-07-12T13:10:44Z</dcterms:created>
  <dcterms:modified xsi:type="dcterms:W3CDTF">2026-07-12T13:10:44Z</dcterms:modified>
</cp:coreProperties>
</file>